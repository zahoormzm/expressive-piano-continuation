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1326294844dd6" /><Relationship Type="http://schemas.openxmlformats.org/officeDocument/2006/relationships/extended-properties" Target="/docProps/app.xml" Id="R844718e646d24c0a" /><Relationship Type="http://schemas.openxmlformats.org/officeDocument/2006/relationships/officeDocument" Target="/ppt/presentation.xml" Id="R99f827beb74b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516283899e4a0e"/>
  </p:sldMasterIdLst>
  <p:notesMasterIdLst>
    <p:notesMasterId xmlns:r="http://schemas.openxmlformats.org/officeDocument/2006/relationships" r:id="R9109c03aec8e41c0"/>
  </p:notesMasterIdLst>
  <p:sldIdLst>
    <p:sldId xmlns:r="http://schemas.openxmlformats.org/officeDocument/2006/relationships" id="256" r:id="R8fd86d3e6e4c49e6"/>
    <p:sldId xmlns:r="http://schemas.openxmlformats.org/officeDocument/2006/relationships" id="257" r:id="R6606216a4dc44fd6"/>
    <p:sldId xmlns:r="http://schemas.openxmlformats.org/officeDocument/2006/relationships" id="258" r:id="R414840e0b2d74758"/>
    <p:sldId xmlns:r="http://schemas.openxmlformats.org/officeDocument/2006/relationships" id="259" r:id="Ra2ec030c81aa4559"/>
    <p:sldId xmlns:r="http://schemas.openxmlformats.org/officeDocument/2006/relationships" id="260" r:id="R7bc9817410624453"/>
    <p:sldId xmlns:r="http://schemas.openxmlformats.org/officeDocument/2006/relationships" id="261" r:id="Rc7e10b6a397a493c"/>
    <p:sldId xmlns:r="http://schemas.openxmlformats.org/officeDocument/2006/relationships" id="262" r:id="Rab374c1064614e9a"/>
    <p:sldId xmlns:r="http://schemas.openxmlformats.org/officeDocument/2006/relationships" id="263" r:id="R839481fbaa414482"/>
    <p:sldId xmlns:r="http://schemas.openxmlformats.org/officeDocument/2006/relationships" id="264" r:id="R96eec2cfd7c54c3c"/>
    <p:sldId xmlns:r="http://schemas.openxmlformats.org/officeDocument/2006/relationships" id="265" r:id="R374ff0b3a7d3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c60ebc03974aac" /><Relationship Type="http://schemas.openxmlformats.org/officeDocument/2006/relationships/slideMaster" Target="/ppt/slideMasters/slideMaster1.xml" Id="Ra9516283899e4a0e" /><Relationship Type="http://schemas.openxmlformats.org/officeDocument/2006/relationships/notesMaster" Target="/ppt/notesMasters/notesMaster1.xml" Id="R9109c03aec8e41c0" /><Relationship Type="http://schemas.openxmlformats.org/officeDocument/2006/relationships/presProps" Target="/ppt/presProps.xml" Id="R5d1dc0b871fd48c0" /><Relationship Type="http://schemas.openxmlformats.org/officeDocument/2006/relationships/tableStyles" Target="/ppt/tableStyles.xml" Id="Ra04e18ea31434aff" /><Relationship Type="http://schemas.openxmlformats.org/officeDocument/2006/relationships/slide" Target="/ppt/slides/slide1.xml" Id="R8fd86d3e6e4c49e6" /><Relationship Type="http://schemas.openxmlformats.org/officeDocument/2006/relationships/slide" Target="/ppt/slides/slide2.xml" Id="R6606216a4dc44fd6" /><Relationship Type="http://schemas.openxmlformats.org/officeDocument/2006/relationships/slide" Target="/ppt/slides/slide3.xml" Id="R414840e0b2d74758" /><Relationship Type="http://schemas.openxmlformats.org/officeDocument/2006/relationships/slide" Target="/ppt/slides/slide4.xml" Id="Ra2ec030c81aa4559" /><Relationship Type="http://schemas.openxmlformats.org/officeDocument/2006/relationships/slide" Target="/ppt/slides/slide5.xml" Id="R7bc9817410624453" /><Relationship Type="http://schemas.openxmlformats.org/officeDocument/2006/relationships/slide" Target="/ppt/slides/slide6.xml" Id="Rc7e10b6a397a493c" /><Relationship Type="http://schemas.openxmlformats.org/officeDocument/2006/relationships/slide" Target="/ppt/slides/slide7.xml" Id="Rab374c1064614e9a" /><Relationship Type="http://schemas.openxmlformats.org/officeDocument/2006/relationships/slide" Target="/ppt/slides/slide8.xml" Id="R839481fbaa414482" /><Relationship Type="http://schemas.openxmlformats.org/officeDocument/2006/relationships/slide" Target="/ppt/slides/slide9.xml" Id="R96eec2cfd7c54c3c" /><Relationship Type="http://schemas.openxmlformats.org/officeDocument/2006/relationships/slide" Target="/ppt/slides/slide10.xml" Id="R374ff0b3a7d3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f05c9836de42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2146114ec041a6" /><Relationship Type="http://schemas.openxmlformats.org/officeDocument/2006/relationships/notesMaster" Target="/ppt/notesMasters/notesMaster1.xml" Id="R6f127cb768794a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12cf51ce6a47aa" /><Relationship Type="http://schemas.openxmlformats.org/officeDocument/2006/relationships/notesMaster" Target="/ppt/notesMasters/notesMaster1.xml" Id="Rd2b6a018a28042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0c04ad455348b0" /><Relationship Type="http://schemas.openxmlformats.org/officeDocument/2006/relationships/notesMaster" Target="/ppt/notesMasters/notesMaster1.xml" Id="R7bc8ba0c22b342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c3400617004c7f" /><Relationship Type="http://schemas.openxmlformats.org/officeDocument/2006/relationships/notesMaster" Target="/ppt/notesMasters/notesMaster1.xml" Id="R17c154faedc64d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c75e5bc11d4a9b" /><Relationship Type="http://schemas.openxmlformats.org/officeDocument/2006/relationships/notesMaster" Target="/ppt/notesMasters/notesMaster1.xml" Id="Rcea8419d4c244a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4fa76ef6b84e0f" /><Relationship Type="http://schemas.openxmlformats.org/officeDocument/2006/relationships/notesMaster" Target="/ppt/notesMasters/notesMaster1.xml" Id="R942fec9fd4fa4a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86af829bb2452b" /><Relationship Type="http://schemas.openxmlformats.org/officeDocument/2006/relationships/notesMaster" Target="/ppt/notesMasters/notesMaster1.xml" Id="R2f9a08e17d0044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6202735dd74099" /><Relationship Type="http://schemas.openxmlformats.org/officeDocument/2006/relationships/notesMaster" Target="/ppt/notesMasters/notesMaster1.xml" Id="R77b56b85b4ea41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be157965b140a0" /><Relationship Type="http://schemas.openxmlformats.org/officeDocument/2006/relationships/notesMaster" Target="/ppt/notesMasters/notesMaster1.xml" Id="Ra46cd012169342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83aec8fb5344c8" /><Relationship Type="http://schemas.openxmlformats.org/officeDocument/2006/relationships/notesMaster" Target="/ppt/notesMasters/notesMaster1.xml" Id="Re8f22488fe2b47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docs/experiment-log.md. Submission material prepared 13 October 2026. Student identities and equal contribution allocation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src/music_project/web/server.py, generation modules, audio/piano.py and docs/demo-guide.md. The piano sound comes from FluidSynth/GeneralUser GS, not an audio waveform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outputs/validation/maestro-v3-clean.json, outputs/tokenization-full-summary.json and docs/full-training-results.md. MAESTRO source https://magenta.tensorflow.org/datasets/maestro, CC BY-NC-SA 4.0. Metadata/exact-hash audit does not prove absence of all musical overlap.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configs/lstm_full.yaml, configs/transformer_full.yaml and configs/assets.json. Aria: https://arxiv.org/abs/2506.23869 and https://huggingface.co/loubb/aria-medium-base. Architecture details are local measured configurations, not claimed replication of published Music Transformer.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docs/full-training-results.json, runs/lstm-full-20261006-001/summary.json and runs/transformer-small-full-20261006-001/summary.json. Same 100,003,399 scored targets and fixed validation crops; parameter counts differ, so this is not a pure architecture ablation.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docs/transformer-improvement.json and docs/transformer-musical-training.json. Pitch accuracy conditions on a piano note, marginalizes velocity and uses real previous tokens. Later runs add compute; musical masking changes scored-target accounting. No equal-extra-compute control or method ablation.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outputs/listening-feedback/transformer-feedback-summary.json, outputs/transformer-musical-verification.json and comparison suites. One listener, eight informal prior pairs. One of five continued preferences followed identity reveal; hidden-name counts are 4 continued, 2 original, 1 unclear. The feedback was not preference-training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docs/demo-guide.md and configs/models.json. Use the actual local environment and downloaded release artifacts. Latest candidate app checks are file/HTTP checks; do not claim automated browser playback verification or a completed human rehearsal.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docs/transformer-musical-training.md and docs/development-plan.md. No project Aria adaptation result, final test evaluation, broad preference study or human rehearsal has been recorded. Public deployment is separate from the working local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submission/contributions.md and the user-provided identities/instruction to divide completed work equally. This is the team-supplied responsibility allocation, not invented per-person commit evidence. Both share interpretation, documentation and demo preparation. Development used an AI coding assistant.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e7901d28d42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76dddf7d243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cf3b626894e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707f002c940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87539fb0f4f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954ab30d54e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1B3B61-F22F-4C6B-8BEB-E8724BF8F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91C023-6F66-42DC-AB66-97DFD27A86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290F44-AB69-4B8B-8324-FBA0490BE9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3E93EF-0B21-422B-9EBC-19B5E4D731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0C41C3-2808-4A1C-8A2C-84C771E70A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A152E4-D8A9-4FE3-BABE-8CCE2F895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AE3E09-17CD-4379-9957-7F9274702C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B54A1D-D2D6-42B0-B924-5EEE663349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5274B7-792B-462D-A2E5-A4F209A94A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375A56-92ED-495D-8CA9-A1ADE83648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0ad1fc6209452a" /><Relationship Type="http://schemas.openxmlformats.org/officeDocument/2006/relationships/slideLayout" Target="/ppt/slideLayouts/slideLayout1.xml" Id="R7b3ec448e80840b6" /><Relationship Type="http://schemas.openxmlformats.org/officeDocument/2006/relationships/slideLayout" Target="/ppt/slideLayouts/slideLayout2.xml" Id="R5fcc5e53f8b14a9e" /><Relationship Type="http://schemas.openxmlformats.org/officeDocument/2006/relationships/slideLayout" Target="/ppt/slideLayouts/slideLayout3.xml" Id="R072052cd44ab4b88" /><Relationship Type="http://schemas.openxmlformats.org/officeDocument/2006/relationships/slideLayout" Target="/ppt/slideLayouts/slideLayout4.xml" Id="Rbe4d39773f604581" /><Relationship Type="http://schemas.openxmlformats.org/officeDocument/2006/relationships/slideLayout" Target="/ppt/slideLayouts/slideLayout5.xml" Id="R64865843b72748f2" /><Relationship Type="http://schemas.openxmlformats.org/officeDocument/2006/relationships/slideLayout" Target="/ppt/slideLayouts/slideLayout6.xml" Id="R8a6140f4648842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3ec448e80840b6"/>
    <p:sldLayoutId xmlns:r="http://schemas.openxmlformats.org/officeDocument/2006/relationships" id="2147483650" r:id="R5fcc5e53f8b14a9e"/>
    <p:sldLayoutId xmlns:r="http://schemas.openxmlformats.org/officeDocument/2006/relationships" id="2147483651" r:id="R072052cd44ab4b88"/>
    <p:sldLayoutId xmlns:r="http://schemas.openxmlformats.org/officeDocument/2006/relationships" id="2147483652" r:id="Rbe4d39773f604581"/>
    <p:sldLayoutId xmlns:r="http://schemas.openxmlformats.org/officeDocument/2006/relationships" id="2147483653" r:id="R64865843b72748f2"/>
    <p:sldLayoutId xmlns:r="http://schemas.openxmlformats.org/officeDocument/2006/relationships" id="2147483654" r:id="R8a6140f4648842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ecf4f88a454507" /><Relationship Type="http://schemas.openxmlformats.org/officeDocument/2006/relationships/notesSlide" Target="/ppt/notesSlides/notesSlide1.xml" Id="Ra9da25db7e484d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8a569983a4e09" /><Relationship Type="http://schemas.openxmlformats.org/officeDocument/2006/relationships/notesSlide" Target="/ppt/notesSlides/notesSlide2.xml" Id="Rc5e4c949d56a45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c859b4cfcf4576" /><Relationship Type="http://schemas.openxmlformats.org/officeDocument/2006/relationships/notesSlide" Target="/ppt/notesSlides/notesSlide3.xml" Id="R25ead06d370349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d90f0a5c748b9" /><Relationship Type="http://schemas.openxmlformats.org/officeDocument/2006/relationships/notesSlide" Target="/ppt/notesSlides/notesSlide4.xml" Id="Rfe2d8365caf54a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98b99a96704b31" /><Relationship Type="http://schemas.openxmlformats.org/officeDocument/2006/relationships/chart" Target="/ppt/slides/charts/chart1.xml" Id="R3401fca8c6c34ab3" /><Relationship Type="http://schemas.openxmlformats.org/officeDocument/2006/relationships/notesSlide" Target="/ppt/notesSlides/notesSlide5.xml" Id="R2455783be8d545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ceab898f14349" /><Relationship Type="http://schemas.openxmlformats.org/officeDocument/2006/relationships/notesSlide" Target="/ppt/notesSlides/notesSlide6.xml" Id="R314cfee9be6645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22effcde646e9" /><Relationship Type="http://schemas.openxmlformats.org/officeDocument/2006/relationships/notesSlide" Target="/ppt/notesSlides/notesSlide7.xml" Id="Rf570f68bdc1c45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1c0328259429f" /><Relationship Type="http://schemas.openxmlformats.org/officeDocument/2006/relationships/notesSlide" Target="/ppt/notesSlides/notesSlide8.xml" Id="R3de02ee074e740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19ce4657a4bb5" /><Relationship Type="http://schemas.openxmlformats.org/officeDocument/2006/relationships/notesSlide" Target="/ppt/notesSlides/notesSlide9.xml" Id="R2711e1d915d241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2aaa6b2174288" /><Relationship Type="http://schemas.openxmlformats.org/officeDocument/2006/relationships/notesSlide" Target="/ppt/notesSlides/notesSlide10.xml" Id="Rf32cf325e10f4fe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Validation loss</c:v>
          </c:tx>
          <c:spPr>
            <a:solidFill xmlns:a="http://schemas.openxmlformats.org/drawingml/2006/main">
              <a:srgbClr val="2C7559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LSTM</c:v>
                </c:pt>
                <c:pt idx="1">
                  <c:v>Transformer</c:v>
                </c:pt>
              </c:strCache>
            </c:strRef>
          </c:cat>
          <c:val>
            <c:numRef>
              <c:f>'Chart Data'!$B$2:$B$3</c:f>
              <c:numCache>
                <c:formatCode>0.0000</c:formatCode>
                <c:ptCount val="2"/>
                <c:pt idx="0">
                  <c:v>4.316104</c:v>
                </c:pt>
                <c:pt idx="1">
                  <c:v>3.275785</c:v>
                </c:pt>
              </c:numCache>
            </c:numRef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DD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43DB2-03F5-4C71-805D-51013954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128"/>
                </a:solidFill>
                <a:latin typeface="Arial"/>
                <a:ea typeface="Arial"/>
                <a:cs typeface="Arial"/>
              </a:rPr>
              <a:t>Expressive piano continuation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B361A-D47C-4FA3-A90F-FF059B26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46FCB-C5B6-4600-A10D-DD794BF4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7559"/>
                </a:solidFill>
                <a:latin typeface="Arial"/>
                <a:ea typeface="Arial"/>
                <a:cs typeface="Arial"/>
              </a:rPr>
              <a:t>Music generation with LSTM, Transformer and pretrained Aria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63BD7-704D-4AE3-9A9E-D9FADA35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Mohammed Zahoor Mashahir</a:t>
            </a:r>
          </a:p>
          <a:p xmlns:a="http://schemas.openxmlformats.org/drawingml/2006/main">
            <a:pPr>
              <a:defRPr sz="225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PES1UG24CS579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52D3A-BCA4-416E-B20F-06520246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Mohammed Ibrahim</a:t>
            </a:r>
          </a:p>
          <a:p xmlns:a="http://schemas.openxmlformats.org/drawingml/2006/main">
            <a:pPr>
              <a:defRPr sz="225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PES1UG24CS578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2E5F4-1748-4D60-8ED5-F8E4400C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UE24CS352A Machine Learning</a:t>
            </a:r>
          </a:p>
          <a:p xmlns:a="http://schemas.openxmlformats.org/drawingml/2006/main">
            <a:pPr>
              <a:defRPr sz="19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13 October 2026</a:t>
            </a:r>
          </a:p>
        </p:txBody>
      </p:sp>
    </p:spTree>
    <p:extLst>
      <p:ext uri="{BB962C8B-B14F-4D97-AF65-F5344CB8AC3E}">
        <p14:creationId xmlns:p14="http://schemas.microsoft.com/office/powerpoint/2010/main" val="402394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53200-E544-411E-8157-2CFFE98E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128"/>
                </a:solidFill>
                <a:latin typeface="Arial"/>
                <a:ea typeface="Arial"/>
                <a:cs typeface="Arial"/>
              </a:rPr>
              <a:t>Task and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A594C-C165-48FB-8261-437D9B29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1610A-E422-4D02-94A5-9274B0B6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1. Supply a solo-piano MIDI idea or the authored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F8C99-CB76-46DB-8AEC-6D434036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2. Normalize and tokenize complete note events.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5EF13-A76C-4BED-B37C-EC94502C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3. Continue with the selected model and a declared sampler.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6E4CA-FE24-41E6-8AC6-8EF9E052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4. Export editable MIDI and render piano audio.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0E8C9-C02F-4FFA-B35E-5985511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7559"/>
                </a:solidFill>
                <a:latin typeface="Arial"/>
                <a:ea typeface="Arial"/>
                <a:cs typeface="Arial"/>
              </a:rPr>
              <a:t>The app preserves the supplied prompt and reports why generation stops.</a:t>
            </a:r>
          </a:p>
        </p:txBody>
      </p:sp>
    </p:spTree>
    <p:extLst>
      <p:ext uri="{BB962C8B-B14F-4D97-AF65-F5344CB8AC3E}">
        <p14:creationId xmlns:p14="http://schemas.microsoft.com/office/powerpoint/2010/main" val="1267787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3A9FB-4276-4579-B6E9-08D07C10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128"/>
                </a:solidFill>
                <a:latin typeface="Arial"/>
                <a:ea typeface="Arial"/>
                <a:cs typeface="Arial"/>
              </a:rPr>
              <a:t>Data and musical representation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15A13-5213-49C3-8F94-0252EF99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6C40C-62E2-4220-8230-49507CF1D33C}"/>
              </a:ext>
            </a:extLst>
          </p:cNvPr>
          <p:cNvGraphicFramePr/>
          <p:nvPr/>
        </p:nvGraphicFramePr>
        <p:xfrm>
          <a:off xmlns:a="http://schemas.openxmlformats.org/drawingml/2006/main" x="723900" y="1381125"/>
          <a:ext xmlns:a="http://schemas.openxmlformats.org/drawingml/2006/main" cx="49530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809750"/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Retained split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T w="9525">
                      <a:solidFill>
                        <a:srgbClr val="D5DDD7"/>
                      </a:solidFill>
                      <a:prstDash val="solid"/>
                    </a:lnT>
                    <a:lnB w="9525">
                      <a:solidFill>
                        <a:srgbClr val="D5DDD7"/>
                      </a:solidFill>
                      <a:prstDash val="solid"/>
                    </a:lnB>
                    <a:solidFill>
                      <a:srgbClr val="DC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T w="9525">
                      <a:solidFill>
                        <a:srgbClr val="D5DDD7"/>
                      </a:solidFill>
                      <a:prstDash val="solid"/>
                    </a:lnT>
                    <a:lnB w="9525">
                      <a:solidFill>
                        <a:srgbClr val="D5DDD7"/>
                      </a:solidFill>
                      <a:prstDash val="solid"/>
                    </a:lnB>
                    <a:solidFill>
                      <a:srgbClr val="DCE9E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957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134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171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A5099-33A9-4882-B558-E88263F3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C7559"/>
                </a:solidFill>
                <a:latin typeface="Arial"/>
                <a:ea typeface="Arial"/>
                <a:cs typeface="Arial"/>
              </a:rPr>
              <a:t>1,276 files parsed</a:t>
            </a:r>
          </a:p>
          <a:p xmlns:a="http://schemas.openxmlformats.org/drawingml/2006/main">
            <a:pPr>
              <a:defRPr sz="2400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C7559"/>
                </a:solidFill>
                <a:latin typeface="Arial"/>
                <a:ea typeface="Arial"/>
                <a:cs typeface="Arial"/>
              </a:rPr>
              <a:t>1,262 retained</a:t>
            </a:r>
          </a:p>
          <a:p xmlns:a="http://schemas.openxmlformats.org/drawingml/2006/main">
            <a:pPr>
              <a:defRPr sz="2400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C7559"/>
                </a:solidFill>
                <a:latin typeface="Arial"/>
                <a:ea typeface="Arial"/>
                <a:cs typeface="Arial"/>
              </a:rPr>
              <a:t>14 documented exclusions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08853-EFD6-416F-8A41-C74B6BB4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17,727-token vocabulary</a:t>
            </a:r>
          </a:p>
          <a:p xmlns:a="http://schemas.openxmlformats.org/drawingml/2006/main">
            <a: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10 ms timing, five-second segments</a:t>
            </a:r>
          </a:p>
          <a:p xmlns:a="http://schemas.openxmlformats.org/drawingml/2006/main">
            <a: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Pitch/velocity, onset and duration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FE0ED-E570-419A-97FC-D0C2FA3B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Official split assignments stay intact. Test data did not inform training or selection.</a:t>
            </a:r>
          </a:p>
        </p:txBody>
      </p:sp>
    </p:spTree>
    <p:extLst>
      <p:ext uri="{BB962C8B-B14F-4D97-AF65-F5344CB8AC3E}">
        <p14:creationId xmlns:p14="http://schemas.microsoft.com/office/powerpoint/2010/main" val="1507237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354F3-120B-497F-B8E3-511BAE22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128"/>
                </a:solidFill>
                <a:latin typeface="Arial"/>
                <a:ea typeface="Arial"/>
                <a:cs typeface="Arial"/>
              </a:rPr>
              <a:t>Models and training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2A6E2-6B01-4DF7-82EC-5FEE5062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8FDBC-8874-448A-B262-EE1D644054AC}"/>
              </a:ext>
            </a:extLst>
          </p:cNvPr>
          <p:cNvGraphicFramePr/>
          <p:nvPr/>
        </p:nvGraphicFramePr>
        <p:xfrm>
          <a:off xmlns:a="http://schemas.openxmlformats.org/drawingml/2006/main" x="723900" y="1409700"/>
          <a:ext xmlns:a="http://schemas.openxmlformats.org/drawingml/2006/main" cx="10715625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191000"/>
                <a:gridCol w="4524375"/>
              </a:tblGrid>
              <a:tr h="8143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T w="9525">
                      <a:solidFill>
                        <a:srgbClr val="D5DDD7"/>
                      </a:solidFill>
                      <a:prstDash val="solid"/>
                    </a:lnT>
                    <a:lnB w="9525">
                      <a:solidFill>
                        <a:srgbClr val="D5DDD7"/>
                      </a:solidFill>
                      <a:prstDash val="solid"/>
                    </a:lnB>
                    <a:solidFill>
                      <a:srgbClr val="DC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T w="9525">
                      <a:solidFill>
                        <a:srgbClr val="D5DDD7"/>
                      </a:solidFill>
                      <a:prstDash val="solid"/>
                    </a:lnT>
                    <a:lnB w="9525">
                      <a:solidFill>
                        <a:srgbClr val="D5DDD7"/>
                      </a:solidFill>
                      <a:prstDash val="solid"/>
                    </a:lnB>
                    <a:solidFill>
                      <a:srgbClr val="DC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Training state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T w="9525">
                      <a:solidFill>
                        <a:srgbClr val="D5DDD7"/>
                      </a:solidFill>
                      <a:prstDash val="solid"/>
                    </a:lnT>
                    <a:lnB w="9525">
                      <a:solidFill>
                        <a:srgbClr val="D5DDD7"/>
                      </a:solidFill>
                      <a:prstDash val="solid"/>
                    </a:lnB>
                    <a:solidFill>
                      <a:srgbClr val="DCE9E1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LSTM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1 layer, width 256</a:t>
                      </a:r>
                    </a:p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9.62M parameters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100M scored targets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  <a:tr h="8143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Transformer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8 layers, width 512</a:t>
                      </a:r>
                    </a:p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8 heads, 36.36M parameters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100M baseline</a:t>
                      </a:r>
                    </a:p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Later continuation runs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  <a:tr h="8143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Aria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Upstream medium model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Unmodified reference</a:t>
                      </a:r>
                    </a:p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No project LoRA result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A2885-739D-4E8E-964D-0FE7BF51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Scratch models: context 2,048, BF16, microbatch 4, accumulation 4, AdamW</a:t>
            </a:r>
          </a:p>
        </p:txBody>
      </p:sp>
    </p:spTree>
    <p:extLst>
      <p:ext uri="{BB962C8B-B14F-4D97-AF65-F5344CB8AC3E}">
        <p14:creationId xmlns:p14="http://schemas.microsoft.com/office/powerpoint/2010/main" val="640363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88303-235D-40CE-876F-A36E5F0E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128"/>
                </a:solidFill>
                <a:latin typeface="Arial"/>
                <a:ea typeface="Arial"/>
                <a:cs typeface="Arial"/>
              </a:rPr>
              <a:t>Matched scratch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2AFED-8051-4784-9E7A-74657196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82F4EA6-AD48-4D89-9CB1-5B7F38012BD9}"/>
              </a:ext>
            </a:extLst>
          </p:cNvPr>
          <p:cNvGraphicFramePr/>
          <p:nvPr/>
        </p:nvGraphicFramePr>
        <p:xfrm>
          <a:off xmlns:a="http://schemas.openxmlformats.org/drawingml/2006/main" x="742950" y="1362075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01fca8c6c34ab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D9986-90F4-4262-BDF1-43D999EB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128"/>
                </a:solidFill>
                <a:latin typeface="Arial"/>
                <a:ea typeface="Arial"/>
                <a:cs typeface="Arial"/>
              </a:rPr>
              <a:t>Mean next-token loss in nats. Lower is better.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70356-EAC5-4E4E-A96C-5B144234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054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536 fixed crops, 1,093,516 validation targets. Predictive fit does not establish musical quality.</a:t>
            </a:r>
          </a:p>
        </p:txBody>
      </p:sp>
    </p:spTree>
    <p:extLst>
      <p:ext uri="{BB962C8B-B14F-4D97-AF65-F5344CB8AC3E}">
        <p14:creationId xmlns:p14="http://schemas.microsoft.com/office/powerpoint/2010/main" val="1674013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CB2CB-EA49-4C19-BA8E-09C155E8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128"/>
                </a:solidFill>
                <a:latin typeface="Arial"/>
                <a:ea typeface="Arial"/>
                <a:cs typeface="Arial"/>
              </a:rPr>
              <a:t>Targeted Transformer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C4F0F-3D0B-492C-8259-746C6CB0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4472E-A231-45D3-8E32-2D9A820B471E}"/>
              </a:ext>
            </a:extLst>
          </p:cNvPr>
          <p:cNvGraphicFramePr/>
          <p:nvPr/>
        </p:nvGraphicFramePr>
        <p:xfrm>
          <a:off xmlns:a="http://schemas.openxmlformats.org/drawingml/2006/main" x="723900" y="1409700"/>
          <a:ext xmlns:a="http://schemas.openxmlformats.org/drawingml/2006/main" cx="106680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143250"/>
                <a:gridCol w="2095500"/>
                <a:gridCol w="238125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Checkpoint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T w="9525">
                      <a:solidFill>
                        <a:srgbClr val="D5DDD7"/>
                      </a:solidFill>
                      <a:prstDash val="solid"/>
                    </a:lnT>
                    <a:lnB w="9525">
                      <a:solidFill>
                        <a:srgbClr val="D5DDD7"/>
                      </a:solidFill>
                      <a:prstDash val="solid"/>
                    </a:lnB>
                    <a:solidFill>
                      <a:srgbClr val="DC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Targets in lineage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T w="9525">
                      <a:solidFill>
                        <a:srgbClr val="D5DDD7"/>
                      </a:solidFill>
                      <a:prstDash val="solid"/>
                    </a:lnT>
                    <a:lnB w="9525">
                      <a:solidFill>
                        <a:srgbClr val="D5DDD7"/>
                      </a:solidFill>
                      <a:prstDash val="solid"/>
                    </a:lnB>
                    <a:solidFill>
                      <a:srgbClr val="DC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Raw loss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T w="9525">
                      <a:solidFill>
                        <a:srgbClr val="D5DDD7"/>
                      </a:solidFill>
                      <a:prstDash val="solid"/>
                    </a:lnT>
                    <a:lnB w="9525">
                      <a:solidFill>
                        <a:srgbClr val="D5DDD7"/>
                      </a:solidFill>
                      <a:prstDash val="solid"/>
                    </a:lnB>
                    <a:solidFill>
                      <a:srgbClr val="DC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Pitch accuracy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T w="9525">
                      <a:solidFill>
                        <a:srgbClr val="D5DDD7"/>
                      </a:solidFill>
                      <a:prstDash val="solid"/>
                    </a:lnT>
                    <a:lnB w="9525">
                      <a:solidFill>
                        <a:srgbClr val="D5DDD7"/>
                      </a:solidFill>
                      <a:prstDash val="solid"/>
                    </a:lnB>
                    <a:solidFill>
                      <a:srgbClr val="DCE9E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Original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100.00M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3.2758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21.13%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Continued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150.01M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3.1935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25.31%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Musical final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160.02M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3.1786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26.00%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0B819-6A40-476D-A14E-98B7C832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Musical run: global key/time augmentation on half the crops and continuation loss on three quarters.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DD809-E3AD-4E25-B746-DF02D200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7559"/>
                </a:solidFill>
                <a:latin typeface="Arial"/>
                <a:ea typeface="Arial"/>
                <a:cs typeface="Arial"/>
              </a:rPr>
              <a:t>Final gain over 150M: 0.47% lower raw loss. Listening still needs to test coherence.</a:t>
            </a:r>
          </a:p>
        </p:txBody>
      </p:sp>
    </p:spTree>
    <p:extLst>
      <p:ext uri="{BB962C8B-B14F-4D97-AF65-F5344CB8AC3E}">
        <p14:creationId xmlns:p14="http://schemas.microsoft.com/office/powerpoint/2010/main" val="1979170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D03EC-212A-4D17-98EF-171C3EED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128"/>
                </a:solidFill>
                <a:latin typeface="Arial"/>
                <a:ea typeface="Arial"/>
                <a:cs typeface="Arial"/>
              </a:rPr>
              <a:t>Listening evidence and integrity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D9F7C-9027-4389-9819-A8E5D253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A0D4A-A7CA-43AF-B035-24348224B91F}"/>
              </a:ext>
            </a:extLst>
          </p:cNvPr>
          <p:cNvGraphicFramePr/>
          <p:nvPr/>
        </p:nvGraphicFramePr>
        <p:xfrm>
          <a:off xmlns:a="http://schemas.openxmlformats.org/drawingml/2006/main" x="723900" y="14287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1905000"/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Earlier informal preference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T w="9525">
                      <a:solidFill>
                        <a:srgbClr val="D5DDD7"/>
                      </a:solidFill>
                      <a:prstDash val="solid"/>
                    </a:lnT>
                    <a:lnB w="9525">
                      <a:solidFill>
                        <a:srgbClr val="D5DDD7"/>
                      </a:solidFill>
                      <a:prstDash val="solid"/>
                    </a:lnB>
                    <a:solidFill>
                      <a:srgbClr val="DC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Judgments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T w="9525">
                      <a:solidFill>
                        <a:srgbClr val="D5DDD7"/>
                      </a:solidFill>
                      <a:prstDash val="solid"/>
                    </a:lnT>
                    <a:lnB w="9525">
                      <a:solidFill>
                        <a:srgbClr val="D5DDD7"/>
                      </a:solidFill>
                      <a:prstDash val="solid"/>
                    </a:lnB>
                    <a:solidFill>
                      <a:srgbClr val="DCE9E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Continued Transformer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Original Transformer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Neither / unclear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FEFFF-1751-446B-A321-173AA3E3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95450"/>
            <a:ext cx="3762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7559"/>
                </a:solidFill>
                <a:latin typeface="Arial"/>
                <a:ea typeface="Arial"/>
                <a:cs typeface="Arial"/>
              </a:rPr>
              <a:t>One listener</a:t>
            </a:r>
          </a:p>
          <a:p xmlns:a="http://schemas.openxmlformats.org/drawingml/2006/main">
            <a:pPr>
              <a:defRPr sz="2250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7559"/>
                </a:solidFill>
                <a:latin typeface="Arial"/>
                <a:ea typeface="Arial"/>
                <a:cs typeface="Arial"/>
              </a:rPr>
              <a:t>Eight comparisons</a:t>
            </a:r>
          </a:p>
          <a:p xmlns:a="http://schemas.openxmlformats.org/drawingml/2006/main">
            <a:pPr>
              <a:defRPr sz="2250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7559"/>
                </a:solidFill>
                <a:latin typeface="Arial"/>
                <a:ea typeface="Arial"/>
                <a:cs typeface="Arial"/>
              </a:rPr>
              <a:t>One choice after reveal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CC909-4782-4AEA-85EF-A5CB136D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63 tests pass. Saved checkpoints replay their losses. All 16 new generations pass checked export/audio.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59926-EBFA-4AC8-B255-1A6C1D3D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Eight fresh A/B pairs are ready. Human ratings of the musical candidate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21104235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994D0-4801-4DCE-94FD-56CA96F0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128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11BCA-6E40-4BFD-A5B1-6E06EAF1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7EBBD-60B8-470D-9B0E-B42C9396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1. Open the studio at http://127.0.0.1:8767/.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6ADDE-3763-4486-9C50-A8B2927F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2. Select Transformer musical fine-tuning and the demo prompt.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D7EE4-9BB1-4641-A91D-A54B6FC2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3. Use an 8-second prompt, 12-second continuation and seed 44.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32BD0-EA40-441D-9C5A-649E2743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4. Play the join, compare a saved clip and download MIDI/WAV.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409AA-C988-462F-9E5B-33B9D60E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C755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7559"/>
                </a:solidFill>
                <a:latin typeface="Arial"/>
                <a:ea typeface="Arial"/>
                <a:cs typeface="Arial"/>
              </a:rPr>
              <a:t>EOS or context exhaustion can stop early. Piano releases extend the audible tail.</a:t>
            </a:r>
          </a:p>
        </p:txBody>
      </p:sp>
    </p:spTree>
    <p:extLst>
      <p:ext uri="{BB962C8B-B14F-4D97-AF65-F5344CB8AC3E}">
        <p14:creationId xmlns:p14="http://schemas.microsoft.com/office/powerpoint/2010/main" val="563462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F6D77-2520-4CF6-B049-C9AFFC1B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128"/>
                </a:solidFill>
                <a:latin typeface="Arial"/>
                <a:ea typeface="Arial"/>
                <a:cs typeface="Arial"/>
              </a:rPr>
              <a:t>Limits and next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557A2-0268-429B-AB42-C6D88FA8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7B81C-F0AA-47D5-9C6F-A2100062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Expressive solo piano, finite context and quantized event timing.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A1EA3-80C1-4F5D-B9BC-24D4CD7E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Predictive improvements need fresh listening for melody and harmony.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F22FB-65B8-4BF3-A5F4-B788F6A8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Aria has different training exposure. Project LoRA remains future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F85CD-9536-455F-BFA0-14CB3AA8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Broader listening, a frozen test protocol and human rehearsal remain.</a:t>
            </a:r>
          </a:p>
        </p:txBody>
      </p:sp>
    </p:spTree>
    <p:extLst>
      <p:ext uri="{BB962C8B-B14F-4D97-AF65-F5344CB8AC3E}">
        <p14:creationId xmlns:p14="http://schemas.microsoft.com/office/powerpoint/2010/main" val="13715686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23A53-5308-4469-852E-74EF1C70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128"/>
                </a:solidFill>
                <a:latin typeface="Arial"/>
                <a:ea typeface="Arial"/>
                <a:cs typeface="Arial"/>
              </a:rPr>
              <a:t>Equal contribution allocation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D105E-8876-433D-AB79-8A3D529B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9F8F7-C82E-40F2-AB87-FB45CE9F32BA}"/>
              </a:ext>
            </a:extLst>
          </p:cNvPr>
          <p:cNvGraphicFramePr/>
          <p:nvPr/>
        </p:nvGraphicFramePr>
        <p:xfrm>
          <a:off xmlns:a="http://schemas.openxmlformats.org/drawingml/2006/main" x="723900" y="1428750"/>
          <a:ext xmlns:a="http://schemas.openxmlformats.org/drawingml/2006/main" cx="10715625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6191250"/>
              </a:tblGrid>
              <a:tr h="1000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Student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T w="9525">
                      <a:solidFill>
                        <a:srgbClr val="D5DDD7"/>
                      </a:solidFill>
                      <a:prstDash val="solid"/>
                    </a:lnT>
                    <a:lnB w="9525">
                      <a:solidFill>
                        <a:srgbClr val="D5DDD7"/>
                      </a:solidFill>
                      <a:prstDash val="solid"/>
                    </a:lnB>
                    <a:solidFill>
                      <a:srgbClr val="DCE9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Allocated responsibilities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T w="9525">
                      <a:solidFill>
                        <a:srgbClr val="D5DDD7"/>
                      </a:solidFill>
                      <a:prstDash val="solid"/>
                    </a:lnT>
                    <a:lnB w="9525">
                      <a:solidFill>
                        <a:srgbClr val="D5DDD7"/>
                      </a:solidFill>
                      <a:prstDash val="solid"/>
                    </a:lnB>
                    <a:solidFill>
                      <a:srgbClr val="DCE9E1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Mohammed Zahoor Mashahir</a:t>
                      </a:r>
                    </a:p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PES1UG24CS579</a:t>
                      </a:r>
                    </a:p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Data, tokenization and reconstruction</a:t>
                      </a:r>
                    </a:p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Scratch training, recovery and Transformer experiments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Mohammed Ibrahim</a:t>
                      </a:r>
                    </a:p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PES1UG24CS578</a:t>
                      </a:r>
                    </a:p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5DDD7"/>
                      </a:solidFill>
                      <a:prstDash val="solid"/>
                    </a:lnL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Aria integration, audio and application</a:t>
                      </a:r>
                    </a:p>
                    <a:p>
                      <a:r>
                        <a:rPr sz="1800">
                          <a:solidFill>
                            <a:srgbClr val="173128"/>
                          </a:solidFill>
                          <a:latin typeface="Arial"/>
                          <a:ea typeface="Arial"/>
                          <a:cs typeface="Arial"/>
                        </a:rPr>
                        <a:t>Listening pages and submission packaging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5DDD7"/>
                      </a:solidFill>
                      <a:prstDash val="solid"/>
                    </a:lnR>
                    <a:lnB w="9525">
                      <a:solidFill>
                        <a:srgbClr val="D5DDD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6CDE6-9872-455B-9A8B-7D9EAC82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1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128"/>
                </a:solidFill>
                <a:latin typeface="Arial"/>
                <a:ea typeface="Arial"/>
                <a:cs typeface="Arial"/>
              </a:rPr>
              <a:t>Shared: evaluation interpretation, documentation and demonstration preparation.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B1583-8159-4F41-8324-80756221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6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5E"/>
                </a:solidFill>
                <a:latin typeface="Arial"/>
                <a:ea typeface="Arial"/>
                <a:cs typeface="Arial"/>
              </a:rPr>
              <a:t>Private repository: github.com/zahoormzm/expressive-piano-continuation</a:t>
            </a:r>
          </a:p>
        </p:txBody>
      </p:sp>
    </p:spTree>
    <p:extLst>
      <p:ext uri="{BB962C8B-B14F-4D97-AF65-F5344CB8AC3E}">
        <p14:creationId xmlns:p14="http://schemas.microsoft.com/office/powerpoint/2010/main" val="533470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2026-10-13T15:48:21.2600000Z</dcterms:created>
  <dcterms:modified xsi:type="dcterms:W3CDTF">2026-10-13T15:48:21.2600000Z</dcterms:modified>
</coreProperties>
</file>